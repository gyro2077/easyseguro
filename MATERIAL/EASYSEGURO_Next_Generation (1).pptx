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10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81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con la promesa: no estamos proponiendo solo una app, sino rediseñar la experiencia de venta y posventa de seguros para un cliente joven.
EASYSEGURO se presenta como capa digital de Seguros del Pichincha, no como una marca separada.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conecta directamente con el caso entregado: el usuario joven no quiere leer textos largos ni depender de llamadas.
La propuesta debe enfocarse en disminuir fricción y aumentar autogestión.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una persona clara para alinear decisiones de diseño.
El comité debe sentir que entendemos al usuario antes de mostrar pantallas.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principios demuestran que la propuesta no es decorativa; tiene criterio de diseño.
La autogestión es el principio central porque es lo más importante del desafío.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Diferenciamos la propuesta: no es “una app más”, sino una capa de servicio que aprovecha productos y canales existentes.
Los cinco módulos cubren todos los entregables: conocer, contratar, gestionar y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de flujo que pide el entregable.
El flujo enfatiza que la venta y la posventa no son experiencias separadas.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pantalla demuestra que eliminamos fricción desde el inicio.
Antes de pedir cédula o teléfono, damos valor mediante diagnóstico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productos reales de Seguros del Pichincha para que el comité vea conexión con el negocio.
Cuidamos el riesgo legal: los precios y coberturas se declaran como prototipo o se validan con el área correspondiente.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Contratación simplificada: no se trata de eliminar controles, sino de pedirlos en el momento correcto.
Este enfoque reduce abandono y permite debitar pagos recurrentes con mayor claridad.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más importante del desafío: autogestión real.
Mostramos acciones concretas que el cliente puede resolver sin llamar.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atacamos una de las mayores frustraciones: no saber cómo reportar un siniestro ni en qué estado está.
El sitio actual tiene formularios y guías: EASYSEGURO los convierte en flujo guiado y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inteligencia artificial se presenta con responsabilidad: no responde temas legales sensibles sin validación.
La clave es reducir dudas repetitivas y acompañar al cliente sin sustituir el contacto humano cuando sea necesario.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habla el lenguaje del comité: experiencia y eficiencia con indicadores.
No basta con una buena idea: proponemos cómo medir si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roadmap muestra viabilidad: no intentamos construir todo desde el día uno.
Primero se valida el viaje de venta, luego se fortalece autogestión y finalmente siniestros con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contundente: la idea es simple, implementable y alineada con el desafío.
La petición concreta al comité es pilotear, medir y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64592" cy="5212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BFD2E5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44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EASYSEGURO</a:t>
            </a:r>
            <a:endParaRPr lang="es-EC" sz="4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2770632"/>
            <a:ext cx="1234440" cy="7315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70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Una experiencia digital simple, clara y autogestionable para contratar y usar seguros.</a:t>
            </a:r>
            <a:endParaRPr lang="es-EC" sz="1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3232" y="388620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FDB913"/>
          </a:solidFill>
          <a:ln w="12700">
            <a:solidFill>
              <a:srgbClr val="061D3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68496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Tribu: Next Generation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71800" y="388620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0065A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3968496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Proyecto: EASYSEGURO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55280" y="1124712"/>
            <a:ext cx="2011680" cy="4160520"/>
          </a:xfrm>
          <a:prstGeom prst="roundRect">
            <a:avLst>
              <a:gd name="adj" fmla="val 8182"/>
            </a:avLst>
          </a:prstGeom>
          <a:solidFill>
            <a:srgbClr val="061D3A"/>
          </a:solidFill>
          <a:ln w="12700">
            <a:solidFill>
              <a:srgbClr val="061D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9288" y="1197864"/>
            <a:ext cx="1883664" cy="4014216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9602" y="1252728"/>
            <a:ext cx="523037" cy="73152"/>
          </a:xfrm>
          <a:prstGeom prst="roundRect">
            <a:avLst>
              <a:gd name="adj" fmla="val 37500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4447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02752" y="182880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7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Tu seguro,</a:t>
            </a:r>
            <a:endParaRPr lang="es-EC" sz="1700" dirty="0"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s-EC" sz="17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 simple</a:t>
            </a:r>
            <a:endParaRPr lang="es-EC" sz="1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93608" y="28346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944368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Cotizar ahora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" y="5989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dirty="0">
                <a:solidFill>
                  <a:srgbClr val="AFC0D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2026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BFD2E5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Reto: seguro simple, digital y sin fricción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 oportunidad no es “digitalizar trámites”; es rediseñar la relación completa con el cliente joven.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0632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240280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591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Problema actual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Lenguaje técnico y documentos largos.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34015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Dependencia de llamadas, oficinas o intermediarios.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390448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Poca claridad en qué cubre, qué no cubre y qué hacer si ocurre un evento.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1965960"/>
            <a:ext cx="306324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40280"/>
            <a:ext cx="475488" cy="475488"/>
          </a:xfrm>
          <a:prstGeom prst="ellipse">
            <a:avLst/>
          </a:prstGeom>
          <a:solidFill>
            <a:srgbClr val="FFF3C9"/>
          </a:solidFill>
          <a:ln w="12700">
            <a:solidFill>
              <a:srgbClr val="FFF3C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3591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49240" y="2240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Usuario meta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289864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25–35 años, móvil primero.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34015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Usa apps de banco, delivery y transporte.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390448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Quiere rapidez, autonomía y cero letra pequeña.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412480" y="1965960"/>
            <a:ext cx="3063240" cy="2971800"/>
          </a:xfrm>
          <a:prstGeom prst="roundRect">
            <a:avLst>
              <a:gd name="adj" fmla="val 3692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41080" y="2240280"/>
            <a:ext cx="475488" cy="47548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23591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89720" y="2240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Objetivo ganador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32520" y="2907792"/>
            <a:ext cx="219456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s-EC" sz="15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Que el cliente pueda conocer, contratar y autogestionar su seguro desde el celular, con ayuda humana solo cuando realmente agregue valor.</a:t>
            </a:r>
            <a:endParaRPr lang="es-EC" sz="15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732520" y="4343400"/>
            <a:ext cx="205740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4526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0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Simple · Digital · Medible</a:t>
            </a:r>
            <a:endParaRPr lang="es-EC" sz="11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Persona: el cliente que debemos convencer en segundos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Diseñamos para alguien que ya vive en apps, pero aún no confía del todo en los seguros.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15568" y="2313432"/>
            <a:ext cx="987552" cy="987552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57860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20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endParaRPr lang="es-EC" sz="2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3172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8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Daniela, 29</a:t>
            </a:r>
            <a:endParaRPr lang="es-EC" sz="1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172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0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Profesional joven · Quito</a:t>
            </a:r>
            <a:endParaRPr lang="es-EC" sz="1080" dirty="0"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s-EC" sz="10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Usa banca móvil, delivery y transporte por app.</a:t>
            </a:r>
            <a:endParaRPr lang="es-EC" sz="10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4128" y="3611880"/>
            <a:ext cx="3154680" cy="45720"/>
          </a:xfrm>
          <a:prstGeom prst="rect">
            <a:avLst/>
          </a:prstGeom>
          <a:solidFill>
            <a:srgbClr val="D9E5F2"/>
          </a:solidFill>
          <a:ln w="12700">
            <a:solidFill>
              <a:srgbClr val="D9E5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95020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Nunca ha comprado un seguro.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51560" y="44531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Quiere saber cuánto paga y qué recibe.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495604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2728" y="4892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Abandona si el proceso le pide demasiados datos.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74920" y="1901952"/>
            <a:ext cx="6355080" cy="3931920"/>
          </a:xfrm>
          <a:prstGeom prst="roundRect">
            <a:avLst>
              <a:gd name="adj" fmla="val 2791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3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Insight central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32120" y="2852928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24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“No quiero que me vendan un seguro; quiero entender si me sirve, contratarlo fácil y saber qué hacer cuando lo necesite.”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32120" y="4315968"/>
            <a:ext cx="525780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4636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30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Esto convierte la propuesta en una experiencia de confianza, no solo en un canal de venta.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Principios de diseño: cómo se gana confianza digital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Cada pantalla de EASYSEGURO cumple cuatro reglas simples.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2148840" cy="32461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235915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4780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3035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8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Claro</a:t>
            </a:r>
            <a:endParaRPr lang="es-EC" sz="1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8992" y="3566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Lenguaje cotidiano: “sí cubre / no cubre”.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8992" y="4709160"/>
            <a:ext cx="132588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057400"/>
            <a:ext cx="2148840" cy="32461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67912" y="235915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24780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67912" y="3035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8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Rápido</a:t>
            </a:r>
            <a:endParaRPr lang="es-EC" sz="1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67912" y="3566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Cotización en 60 segundos y datos mínimos.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67912" y="4709160"/>
            <a:ext cx="132588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57400"/>
            <a:ext cx="2148840" cy="324612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6832" y="235915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24780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56832" y="3035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8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Confiable</a:t>
            </a:r>
            <a:endParaRPr lang="es-EC" sz="1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56832" y="3566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Precio, cobertura y exclusiones visibles.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56832" y="4709160"/>
            <a:ext cx="132588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057400"/>
            <a:ext cx="2148840" cy="3246120"/>
          </a:xfrm>
          <a:prstGeom prst="roundRect">
            <a:avLst>
              <a:gd name="adj" fmla="val 5106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45752" y="2359152"/>
            <a:ext cx="475488" cy="47548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45752" y="24780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45752" y="3035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8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Autónomo</a:t>
            </a:r>
            <a:endParaRPr lang="es-EC" sz="1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445752" y="3566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0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 cliente resuelve trámites sin llamar.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445752" y="4709160"/>
            <a:ext cx="132588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74243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7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Regla de oro: si el cliente no lo entiende en 10 segundos, hay que simplificar.</a:t>
            </a:r>
            <a:endParaRPr lang="es-EC" sz="1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 solución: EASYSEGURO by Seguros del Pichincha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Una capa digital de servicio que conecta venta, póliza, pagos, ayuda y siniestros en una sola experiencia.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22677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5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EASYSEGURO</a:t>
            </a:r>
            <a:endParaRPr lang="es-EC" sz="25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290779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52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 es una nueva aseguradora.</a:t>
            </a:r>
            <a:endParaRPr lang="es-EC" sz="1520" dirty="0"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s-EC" sz="152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 la experiencia digital simple de Seguros del Pichincha para clientes que prefieren autogestionar.</a:t>
            </a:r>
            <a:endParaRPr lang="es-EC" sz="15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70432" y="43891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DB913"/>
          </a:solidFill>
          <a:ln w="12700">
            <a:solidFill>
              <a:srgbClr val="061D3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4471416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Venta + Posventa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0" y="438912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0065A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4471416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Autogestión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74920" y="185623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9751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87568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Recomendador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87568" y="20848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 preguntas para sugerir el plan adecuado.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2624328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743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87568" y="2596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Contratación simple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87568" y="28529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Datos mínimos, pago seguro y póliza digital.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4920" y="3392424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5112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87568" y="3364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 seguro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87568" y="362102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Póliza, pagos, datos y beneficiarios en un panel.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74920" y="4160520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2793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87568" y="4133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Siniestros guiados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87568" y="4389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Reporte, documentos y estado del caso sin llamar.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74920" y="4928616"/>
            <a:ext cx="475488" cy="475488"/>
          </a:xfrm>
          <a:prstGeom prst="ellipse">
            <a:avLst/>
          </a:prstGeom>
          <a:solidFill>
            <a:srgbClr val="FFF3C9"/>
          </a:solidFill>
          <a:ln w="12700">
            <a:solidFill>
              <a:srgbClr val="FFF3C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50474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87568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Asistente digital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87568" y="5157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Resuelve dudas y escala casos complejos.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05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Flujo del servicio: de curiosidad a autogestión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 recorrido completo, medible y sin pasos innecesarios.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234440" cy="8686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Descubre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Campaña, web o QR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50008" y="2423160"/>
            <a:ext cx="1234440" cy="8686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70048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Diagnóstico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78608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 preguntas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22776" y="2423160"/>
            <a:ext cx="1234440" cy="8686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5928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42816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Cotiza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51376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Plan sugerido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95544" y="2423160"/>
            <a:ext cx="1234440" cy="8686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15584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Confía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24144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Sí cubre / no cubre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68312" y="2423160"/>
            <a:ext cx="1234440" cy="8686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88352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Contrata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96912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Pago seguro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41080" y="2423160"/>
            <a:ext cx="1234440" cy="8686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14232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0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Activa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9680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Póliza digital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213848" y="2423160"/>
            <a:ext cx="1234440" cy="868680"/>
          </a:xfrm>
          <a:prstGeom prst="chevron">
            <a:avLst/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87000" y="254203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9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33888" y="254203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6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Autogestiona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442448" y="285292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8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Pago, datos, siniestro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05840" y="3977640"/>
            <a:ext cx="10058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417320" y="42976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2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Clave del modelo</a:t>
            </a:r>
            <a:endParaRPr lang="es-EC" sz="12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063240" y="4279392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350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 canal humano no desaparece: se reserva para casos sensibles o complejos. Lo repetitivo se resuelve por autogestión.</a:t>
            </a:r>
            <a:endParaRPr lang="es-EC" sz="13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063240" y="4645152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Resultado esperado: menos fricción, más confianza, mejor conversión y menor carga operativa.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06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Venta digital: cotizar antes de pedir datos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Primero entregamos valor; luego solicitamos información sensible solo cuando el cliente decide avanzar.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96112" y="1901952"/>
            <a:ext cx="2148840" cy="4224528"/>
          </a:xfrm>
          <a:prstGeom prst="roundRect">
            <a:avLst>
              <a:gd name="adj" fmla="val 7660"/>
            </a:avLst>
          </a:prstGeom>
          <a:solidFill>
            <a:srgbClr val="061D3A"/>
          </a:solidFill>
          <a:ln w="12700">
            <a:solidFill>
              <a:srgbClr val="061D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75104"/>
            <a:ext cx="2020824" cy="4078224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183" y="2029968"/>
            <a:ext cx="558698" cy="73152"/>
          </a:xfrm>
          <a:prstGeom prst="roundRect">
            <a:avLst>
              <a:gd name="adj" fmla="val 37500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2199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Cotiza en 60 segundos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423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18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¿Qué quieres proteger?</a:t>
            </a:r>
            <a:endParaRPr lang="es-EC" sz="11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43000" y="272491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8072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Familia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43000" y="318211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2644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Salud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43000" y="363931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7216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Accidentes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07008" y="4937760"/>
            <a:ext cx="1517904" cy="384048"/>
          </a:xfrm>
          <a:prstGeom prst="roundRect">
            <a:avLst>
              <a:gd name="adj" fmla="val 19048"/>
            </a:avLst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504748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68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Ver mi recomendación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49040" y="1901952"/>
            <a:ext cx="7406640" cy="4133088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0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Por qué este cambio importa</a:t>
            </a:r>
            <a:endParaRPr lang="es-EC" sz="2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51960" y="29443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28803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4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Disminuye abandono: el cliente no se bloquea con formularios largos.</a:t>
            </a:r>
            <a:endParaRPr lang="es-EC" sz="134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51960" y="349300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3429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4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Permite recomendación personalizada sin parecer invasiva.</a:t>
            </a:r>
            <a:endParaRPr lang="es-EC" sz="134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51960" y="404164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39776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34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Convierte productos de seguros en decisiones simples: necesidad, presupuesto y nivel de protección.</a:t>
            </a:r>
            <a:endParaRPr lang="es-EC" sz="134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206240" y="4828032"/>
            <a:ext cx="6217920" cy="5486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51023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5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Principio: “dame claridad antes de pedirme datos”.</a:t>
            </a:r>
            <a:endParaRPr lang="es-EC" sz="15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07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Decisión con confianza, sin letra pequeña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 compra se apoya en productos reales, presentados en lenguaje simple y comparable.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1901952"/>
            <a:ext cx="2148840" cy="4297680"/>
          </a:xfrm>
          <a:prstGeom prst="roundRect">
            <a:avLst>
              <a:gd name="adj" fmla="val 7660"/>
            </a:avLst>
          </a:prstGeom>
          <a:solidFill>
            <a:srgbClr val="061D3A"/>
          </a:solidFill>
          <a:ln w="12700">
            <a:solidFill>
              <a:srgbClr val="061D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975104"/>
            <a:ext cx="2020824" cy="4151376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8031" y="2029968"/>
            <a:ext cx="558698" cy="73152"/>
          </a:xfrm>
          <a:prstGeom prst="roundRect">
            <a:avLst>
              <a:gd name="adj" fmla="val 37500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37744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596896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9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Vida Protegida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7008" y="29260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Desde $10,90/mes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6152" y="318211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65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Protección para ti y tu familia.</a:t>
            </a:r>
            <a:endParaRPr lang="es-EC" sz="6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60704" y="38221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904488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00" b="1" dirty="0">
                <a:solidFill>
                  <a:srgbClr val="19A974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Sí cubre</a:t>
            </a:r>
            <a:endParaRPr lang="es-EC" sz="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60704" y="42793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61688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00" b="1" dirty="0">
                <a:solidFill>
                  <a:srgbClr val="E84A5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 cubre</a:t>
            </a:r>
            <a:endParaRPr lang="es-EC" sz="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60704" y="4736592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818888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Qué hacer si pasa</a:t>
            </a:r>
            <a:endParaRPr lang="es-EC" sz="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94760" y="1965960"/>
            <a:ext cx="2377440" cy="33375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69080" y="2267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Productos SDP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69080" y="28529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8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Vida Protegida</a:t>
            </a:r>
            <a:endParaRPr lang="es-EC" sz="11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69080" y="33101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0248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8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Amparo Plus</a:t>
            </a:r>
            <a:endParaRPr lang="es-EC" sz="11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069080" y="37673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8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Hogar / accidentes</a:t>
            </a:r>
            <a:endParaRPr lang="es-EC" sz="11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69080" y="437083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96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EASYSEGURO no inventa productos: simplifica su entendimiento y contratación.</a:t>
            </a:r>
            <a:endParaRPr lang="es-EC" sz="9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20840" y="1965960"/>
            <a:ext cx="4343400" cy="3337560"/>
          </a:xfrm>
          <a:prstGeom prst="roundRect">
            <a:avLst>
              <a:gd name="adj" fmla="val 3288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86600" y="23317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 pantalla que genera confianza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086600" y="29443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7768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3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Precio y cobertura visibles desde el primer vistazo.</a:t>
            </a:r>
            <a:endParaRPr lang="es-EC" sz="123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086600" y="349300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7768" y="3429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3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Comparador “sí cubre / no cubre” sin términos legales complejos.</a:t>
            </a:r>
            <a:endParaRPr lang="es-EC" sz="123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86600" y="404164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3977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3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Resumen de póliza en una página antes de pagar.</a:t>
            </a:r>
            <a:endParaRPr lang="es-EC" sz="123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86600" y="473659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820" dirty="0">
                <a:solidFill>
                  <a:srgbClr val="BFD2E5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Valores y coberturas mostrados como referencia de prototipo; se validan con equipo técnico-comercial.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08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Contratación: pocos pasos, datos mínimos y activación inmediata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 momento de compra debe sentirse tan simple como pagar un servicio digital.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2926080" cy="3886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331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1. Validación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34440" y="29443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Cédula + celular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34440" y="344728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Datos precargados cuando sea posible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34440" y="395020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Aceptación clara de condiciones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34440" y="4828032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DB913"/>
          </a:solidFill>
          <a:ln w="12700">
            <a:solidFill>
              <a:srgbClr val="061D3A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4910328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KYC simple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1965960"/>
            <a:ext cx="2926080" cy="3886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331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2. Pago seguro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83480" y="29443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Tarjeta o débito automático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83480" y="344728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Integración con Banco Pichincha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83480" y="395020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Recordatorios antes de vencer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83480" y="4828032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DB913"/>
          </a:solidFill>
          <a:ln w="12700">
            <a:solidFill>
              <a:srgbClr val="061D3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910328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Pago recurrente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366760" y="1965960"/>
            <a:ext cx="2926080" cy="3886200"/>
          </a:xfrm>
          <a:prstGeom prst="roundRect">
            <a:avLst>
              <a:gd name="adj" fmla="val 3750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32520" y="2331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3. Póliza activa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732520" y="294436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33688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Certificado digital descargable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32520" y="344728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Resumen enviado al correo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732520" y="395020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33688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Acceso directo a “Mi seguro”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32520" y="4828032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FDB913"/>
          </a:solidFill>
          <a:ln w="12700">
            <a:solidFill>
              <a:srgbClr val="061D3A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42248" y="4910328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2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Activo en minutos</a:t>
            </a:r>
            <a:endParaRPr lang="es-EC" sz="8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09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Autogestión: el verdadero diferencial de EASYSEGURO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 cliente no solo compra: mantiene el control de su seguro desde un panel simple.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96112" y="1901952"/>
            <a:ext cx="2148840" cy="4297680"/>
          </a:xfrm>
          <a:prstGeom prst="roundRect">
            <a:avLst>
              <a:gd name="adj" fmla="val 7660"/>
            </a:avLst>
          </a:prstGeom>
          <a:solidFill>
            <a:srgbClr val="061D3A"/>
          </a:solidFill>
          <a:ln w="12700">
            <a:solidFill>
              <a:srgbClr val="061D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975104"/>
            <a:ext cx="2020824" cy="4151376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183" y="2029968"/>
            <a:ext cx="558698" cy="73152"/>
          </a:xfrm>
          <a:prstGeom prst="roundRect">
            <a:avLst>
              <a:gd name="adj" fmla="val 37500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3591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0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Vida Protegida</a:t>
            </a:r>
            <a:endParaRPr lang="es-EC" sz="1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25880" y="267919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E9FFF5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2779776"/>
            <a:ext cx="12070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560" b="1" dirty="0">
                <a:solidFill>
                  <a:srgbClr val="19A974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Activo · próximo pago 15/06</a:t>
            </a:r>
            <a:endParaRPr lang="es-EC" sz="5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69848" y="333756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10712"/>
            <a:ext cx="1353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68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Pagar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69848" y="370332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776472"/>
            <a:ext cx="1353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68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Póliza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69848" y="406908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142232"/>
            <a:ext cx="1353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68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Datos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69848" y="443484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4507992"/>
            <a:ext cx="1353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68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Beneficiarios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69848" y="4800600"/>
            <a:ext cx="1645920" cy="246888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4873752"/>
            <a:ext cx="1353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68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Siniestro</a:t>
            </a:r>
            <a:endParaRPr lang="es-EC" sz="6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94760" y="20116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95928" y="217627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5928" y="2295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99432" y="2176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Ver póliza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99432" y="2432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Descargar certificado, resumen y condiciones clave.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20116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9248" y="217627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2295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02752" y="2176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Pagar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02752" y="2432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Pago inmediato, débito automático y recordatorios.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794760" y="31546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95928" y="331927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95928" y="3438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99432" y="3319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Actualizar datos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99432" y="3575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Celular, correo, dirección y método de pago.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498080" y="31546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99248" y="331927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3438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302752" y="3319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Beneficiarios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02752" y="3575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Registro guiado y confirmación de cambios.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794760" y="42976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995928" y="446227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95928" y="4581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99432" y="4462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Reportar incidente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99432" y="4718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Formulario guiado, documentos y estado del caso.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498080" y="4297680"/>
            <a:ext cx="31546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99248" y="446227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99248" y="45811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302752" y="44622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Consultar dudas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302752" y="4718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Asistente 24/7 con escalamiento humano.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40480" y="56235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6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Meta: que la mayoría de solicitudes simples se resuelvan sin llamada.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Siniestros: seguimiento en tiempo real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Convertimos formularios y requisitos en una guía paso a paso desde el celular.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3272" y="2542032"/>
            <a:ext cx="475488" cy="47548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660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3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Reportar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69848" y="34564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90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Tipo de evento y datos básicos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 rot="5400000">
            <a:off x="2715768" y="2926080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22402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54203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660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10128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3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Subir docs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82696" y="34564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9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Checklist según cobertura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 rot="5400000">
            <a:off x="4928616" y="2926080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4376" y="22402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8968" y="254203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2660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22976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3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Enviar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95544" y="34564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9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Número de caso automático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 rot="5400000">
            <a:off x="7141464" y="2926080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22402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71816" y="254203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1816" y="2660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35824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3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Seguir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08392" y="34564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9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Estado y alertas de faltantes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 rot="5400000">
            <a:off x="9354312" y="2926080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0072" y="22402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84664" y="254203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84664" y="26609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48672" y="30632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3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Cerrar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21240" y="34564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9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Resolución y feedback</a:t>
            </a:r>
            <a:endParaRPr lang="es-EC" sz="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143000" y="489204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9E8"/>
          </a:solidFill>
          <a:ln w="12700">
            <a:solidFill>
              <a:srgbClr val="FFE6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59877" y="5074920"/>
            <a:ext cx="1337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/>
              <a:t>Siniestro #SP-2026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880360" y="514807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2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Recibido  →  En revisión  →  Falta documento  →  Aprobado  →  Finalizado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046720" y="6528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550" dirty="0">
                <a:solidFill>
                  <a:srgbClr val="8793A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Base: </a:t>
            </a:r>
            <a:r>
              <a:rPr lang="es-ES" sz="550" dirty="0">
                <a:solidFill>
                  <a:srgbClr val="8793A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procesos de atención actuales de Seguros del Pichincha</a:t>
            </a:r>
            <a:r>
              <a:rPr lang="es-EC" sz="550" dirty="0">
                <a:solidFill>
                  <a:srgbClr val="8793A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.</a:t>
            </a:r>
            <a:endParaRPr lang="es-EC" sz="5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Asistente digital: ayuda clara, empática y escalable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 asistente no reemplaza la confianza humana; la hace llegar en el momento correcto.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2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EASY Assist</a:t>
            </a:r>
            <a:endParaRPr lang="es-EC" sz="22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6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“Explícame mi cobertura como si fuera la primera vez que contrato un seguro.”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34440" y="3730752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F0F7FF"/>
          </a:solidFill>
          <a:ln w="12700">
            <a:solidFill>
              <a:srgbClr val="D9E5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8770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86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Tu plan cubre fallecimiento e invalidez. No cubre eventos excluidos en condiciones del contrato. ¿Quieres ver ejemplos?</a:t>
            </a:r>
            <a:endParaRPr lang="es-EC" sz="86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34440" y="468172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4782312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7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Ver ejemplos</a:t>
            </a:r>
            <a:endParaRPr lang="es-EC" sz="7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0" y="2057400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1762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9360" y="20939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Explica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18120" y="20939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Traduce términos técnicos a lenguaje simple.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9280" y="2907792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0266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29443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Guía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18120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Acompaña contratación, pagos y siniestros.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0" y="3758184"/>
            <a:ext cx="475488" cy="475488"/>
          </a:xfrm>
          <a:prstGeom prst="ellipse">
            <a:avLst/>
          </a:prstGeom>
          <a:solidFill>
            <a:srgbClr val="D9F1FF"/>
          </a:solidFill>
          <a:ln w="12700">
            <a:solidFill>
              <a:srgbClr val="D9F1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8770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Verifica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18120" y="37947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Identifica documentos faltantes y datos inconsistentes.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0" y="4608576"/>
            <a:ext cx="475488" cy="475488"/>
          </a:xfrm>
          <a:prstGeom prst="ellipse">
            <a:avLst/>
          </a:prstGeom>
          <a:solidFill>
            <a:srgbClr val="FFF3C9"/>
          </a:solidFill>
          <a:ln w="12700">
            <a:solidFill>
              <a:srgbClr val="FFF3C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7274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4645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Escala</a:t>
            </a:r>
            <a:endParaRPr lang="es-EC" sz="1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18120" y="4645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12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Deriva a asesor humano casos sensibles o complejos.</a:t>
            </a:r>
            <a:endParaRPr lang="es-EC" sz="112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532120" y="5532120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5687568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8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IA con límites: respuestas validadas por reglas, trazabilidad y escalamiento humano.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Beneficios medibles para cliente y empresa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 éxito se demuestra con indicadores de experiencia, eficiencia y negocio.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4983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2402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0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Cliente</a:t>
            </a:r>
            <a:endParaRPr lang="es-EC" sz="2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34440" y="28529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Entiende qué compra en menos tiempo.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34440" y="33101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Contrata sin trámites innecesarios.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34440" y="37673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Gestiona pagos, datos y póliza desde el celular.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34440" y="42245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182B4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Reporta y sigue un siniestro sin incertidumbre.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27648" y="1874520"/>
            <a:ext cx="4983480" cy="3566160"/>
          </a:xfrm>
          <a:prstGeom prst="roundRect">
            <a:avLst>
              <a:gd name="adj" fmla="val 3077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93408" y="22402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20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Empresa</a:t>
            </a:r>
            <a:endParaRPr lang="es-EC" sz="2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93408" y="28529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Menos llamadas repetitivas y menor carga operativa.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93408" y="33101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Mayor conversión digital y menor abandono.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93408" y="37673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Datos para personalizar ofertas y retener clientes.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93408" y="4224528"/>
            <a:ext cx="109728" cy="10972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25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Marca más moderna y cercana al cliente joven.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" y="5788152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FFF3C9"/>
          </a:solidFill>
          <a:ln w="12700">
            <a:solidFill>
              <a:srgbClr val="FFE4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925312"/>
            <a:ext cx="1600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Tiempo de contratación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0" y="5788152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FFF3C9"/>
          </a:solidFill>
          <a:ln w="12700">
            <a:solidFill>
              <a:srgbClr val="FFE4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5925312"/>
            <a:ext cx="1600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% autogestión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40680" y="5788152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FFF3C9"/>
          </a:solidFill>
          <a:ln w="12700">
            <a:solidFill>
              <a:srgbClr val="FFE4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5925312"/>
            <a:ext cx="1600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Satisfacción y </a:t>
            </a:r>
            <a:r>
              <a:rPr lang="es-EC" sz="8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recomendación</a:t>
            </a:r>
            <a:endParaRPr lang="es-EC" sz="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80960" y="5788152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FFF3C9"/>
          </a:solidFill>
          <a:ln w="12700">
            <a:solidFill>
              <a:srgbClr val="FFE4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5925312"/>
            <a:ext cx="1600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Reducción llamadas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21240" y="5788152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FFF3C9"/>
          </a:solidFill>
          <a:ln w="12700">
            <a:solidFill>
              <a:srgbClr val="FFE4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12680" y="5925312"/>
            <a:ext cx="1600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7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Renovación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Plan de implementación: probar, aprender y escalar</a:t>
            </a:r>
            <a:endParaRPr lang="es-EC" sz="24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418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C" sz="12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Una ruta realista para probar, aprender y crecer sin sobredimensionar el proyecto.</a:t>
            </a:r>
            <a:endParaRPr lang="es-EC" sz="12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2423160" cy="31546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3272" y="2331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0–30 días</a:t>
            </a:r>
            <a:endParaRPr lang="es-EC" sz="11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3272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6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Prototipo validado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3272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0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Mapear procesos actuales, diseñar pantallas referenciales y probar con usuarios de 25 a 35 años.</a:t>
            </a:r>
            <a:endParaRPr lang="es-EC" sz="10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 rot="5400000">
            <a:off x="3319272" y="3364992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2057400"/>
            <a:ext cx="2423160" cy="3154680"/>
          </a:xfrm>
          <a:prstGeom prst="roundRect">
            <a:avLst>
              <a:gd name="adj" fmla="val 4528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9624" y="2331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31–90 días</a:t>
            </a:r>
            <a:endParaRPr lang="es-EC" sz="11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9624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s-EC" sz="16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Piloto de venta digital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9624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08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Cotización, recomendación, contratación y póliza digital para un producto piloto.</a:t>
            </a:r>
            <a:endParaRPr lang="es-EC" sz="10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 rot="5400000">
            <a:off x="6135624" y="3364992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9944" y="2057400"/>
            <a:ext cx="2423160" cy="31546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65976" y="2331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3–6 meses</a:t>
            </a:r>
            <a:endParaRPr lang="es-EC" sz="11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65976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6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Autogestión</a:t>
            </a:r>
            <a:endParaRPr lang="es-EC" sz="16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65976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0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Pagos, actualización de datos, certificados y asistente de dudas frecuentes.</a:t>
            </a:r>
            <a:endParaRPr lang="es-EC" sz="10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 rot="5400000">
            <a:off x="8951976" y="3364992"/>
            <a:ext cx="201168" cy="201168"/>
          </a:xfrm>
          <a:prstGeom prst="triangle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26296" y="2057400"/>
            <a:ext cx="2423160" cy="31546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82328" y="2331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6–12 meses</a:t>
            </a:r>
            <a:endParaRPr lang="es-EC" sz="11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82328" y="2761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30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Siniestros guiados y mejora inteligente</a:t>
            </a:r>
            <a:endParaRPr lang="es-EC" sz="13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82328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08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Reporte guiado, estado del caso, analítica y escalamiento humano inteligente.</a:t>
            </a:r>
            <a:endParaRPr lang="es-EC" sz="10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7280" y="5623560"/>
            <a:ext cx="9966960" cy="475488"/>
          </a:xfrm>
          <a:prstGeom prst="roundRect">
            <a:avLst>
              <a:gd name="adj" fmla="val 23077"/>
            </a:avLst>
          </a:prstGeom>
          <a:solidFill>
            <a:srgbClr val="FFF9E8"/>
          </a:solidFill>
          <a:ln w="12700">
            <a:solidFill>
              <a:srgbClr val="FFE6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5779008"/>
            <a:ext cx="9098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8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Piloto recomendado: Vida Protegida / Amparo Plus con usuarios jóvenes, midiendo conversión y autogestión antes de escalar.</a:t>
            </a:r>
            <a:endParaRPr lang="es-EC" sz="88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64592" cy="5212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155448" cy="43891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5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Seguros del Pichincha</a:t>
            </a:r>
            <a:endParaRPr lang="es-EC" sz="10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BFD2E5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Desafío Intrapreneur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39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EASYSEGURO</a:t>
            </a:r>
            <a:endParaRPr lang="es-EC" sz="39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800" dirty="0">
                <a:solidFill>
                  <a:srgbClr val="DCEBF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 forma más simple de acercar Seguros del Pichincha al cliente joven.</a:t>
            </a:r>
            <a:endParaRPr lang="es-EC" sz="18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234440" cy="73152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200" b="1" dirty="0">
                <a:solidFill>
                  <a:srgbClr val="FDB913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Nuestra apuesta</a:t>
            </a:r>
            <a:endParaRPr lang="es-EC" sz="12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200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 digitalizar procesos complejos: simplificarlos para que el cliente pueda entender, contratar y autogestionar con confianza.</a:t>
            </a:r>
            <a:endParaRPr lang="es-EC" sz="2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8080" y="123444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5F2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50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Próximo paso</a:t>
            </a:r>
            <a:endParaRPr lang="es-EC" sz="15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09560" y="22677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C" sz="15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Aprobar un piloto de 90 días con un producto base, usuarios jóvenes y métricas de conversión/autogestión.</a:t>
            </a:r>
            <a:endParaRPr lang="es-EC" sz="15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3337560"/>
            <a:ext cx="2240280" cy="420624"/>
          </a:xfrm>
          <a:prstGeom prst="roundRect">
            <a:avLst>
              <a:gd name="adj" fmla="val 15217"/>
            </a:avLst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474720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850" b="1" dirty="0">
                <a:solidFill>
                  <a:srgbClr val="061D3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Pilotear · Medir · Escalar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09560" y="4681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150" b="1" dirty="0">
                <a:solidFill>
                  <a:srgbClr val="003B7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Tribu Next Generation</a:t>
            </a:r>
            <a:endParaRPr lang="es-EC" sz="11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09560" y="4965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000" dirty="0">
                <a:solidFill>
                  <a:srgbClr val="6B778D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Gracias</a:t>
            </a:r>
            <a:endParaRPr lang="es-EC" sz="10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750" dirty="0">
                <a:solidFill>
                  <a:srgbClr val="BFD2E5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Next Generation · EASYSEGURO</a:t>
            </a:r>
            <a:endParaRPr lang="es-EC" sz="7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C" sz="850" b="1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endParaRPr lang="es-EC" sz="85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charset="0"/>
        <a:ea typeface="Arial" charset="0"/>
        <a:cs typeface="Arial" charset="0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charset="0"/>
        <a:ea typeface="Arial" charset="0"/>
        <a:cs typeface="Arial" charset="0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2066</Words>
  <Application>Microsoft Office PowerPoint</Application>
  <PresentationFormat>Panorámica</PresentationFormat>
  <Paragraphs>346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Escuela Politécnica Nacional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EASYSEGURO - Next Generation</dc:title>
  <dc:subject>Desafío Intrapreneur - Seguros del Pichincha</dc:subject>
  <dc:creator>Next Generation</dc:creator>
  <cp:lastModifiedBy>YAJAIRA ALEXANDRA TOAQUIZA TOAQUIZA</cp:lastModifiedBy>
  <cp:revision>4</cp:revision>
  <dcterms:created xsi:type="dcterms:W3CDTF">2026-05-24T17:11:26Z</dcterms:created>
  <dcterms:modified xsi:type="dcterms:W3CDTF">2026-05-24T18:31:33Z</dcterms:modified>
</cp:coreProperties>
</file>