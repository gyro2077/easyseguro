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617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685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 de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bienvenida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49872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85864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77304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18552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77304" y="475488"/>
            <a:ext cx="2194560" cy="1834652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00264" y="676656"/>
            <a:ext cx="548640" cy="621792"/>
          </a:xfrm>
          <a:prstGeom prst="homePlate">
            <a:avLst/>
          </a:prstGeom>
          <a:solidFill>
            <a:srgbClr val="1A56DB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00264" y="74980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77304" y="1371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51624" y="1645920"/>
            <a:ext cx="1645920" cy="0"/>
          </a:xfrm>
          <a:prstGeom prst="line">
            <a:avLst/>
          </a:prstGeom>
          <a:noFill/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77304" y="168249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68744" y="24381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seguro, simple y digital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3608" y="2785628"/>
            <a:ext cx="1901952" cy="384048"/>
          </a:xfrm>
          <a:prstGeom prst="roundRect">
            <a:avLst>
              <a:gd name="adj" fmla="val 1428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23608" y="278562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3608" y="3261116"/>
            <a:ext cx="19019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23608" y="326111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23024" y="37548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¿Necesitas ayuda? Habla con nosotros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36456" y="98755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29064" y="94183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39618" y="760007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nombre visible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primer segundo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36456" y="199339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29064" y="194767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39618" y="1847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simple: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términos técnicos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36456" y="281635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29064" y="277063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24021" y="2697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 y destacado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36456" y="3300984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29064" y="3255264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73266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</a:t>
            </a:r>
            <a:endParaRPr lang="en-US" sz="10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149D128-47E3-BD12-8D2A-6FF41D42E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64" y="2039112"/>
            <a:ext cx="2148840" cy="1069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274320" y="706903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Crear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cuenta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46824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182816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74256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115504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74256" y="475488"/>
            <a:ext cx="219456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65696" y="5669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Crear cuenta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4256" y="978408"/>
            <a:ext cx="219456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74256" y="978408"/>
            <a:ext cx="768096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65696" y="113385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365696" y="1298448"/>
            <a:ext cx="201168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38848" y="12984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Andrés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65696" y="1645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438848" y="18105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Báez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65696" y="215798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365696" y="2322576"/>
            <a:ext cx="201168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438848" y="232257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correo@email.com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365696" y="267004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teléfono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365696" y="2834640"/>
            <a:ext cx="201168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438848" y="283464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09XXXXXXXX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365696" y="318211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cédula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365696" y="3346704"/>
            <a:ext cx="201168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438848" y="334670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1700000000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365696" y="36941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365696" y="3858768"/>
            <a:ext cx="201168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438848" y="38587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365696" y="4279392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365696" y="42793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Registrarme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633408" y="117043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926016" y="112471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063176" y="1051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amarilla (paso 1 de 3)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33408" y="176479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926016" y="171907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063176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datos esenciales,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campos innecesarios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633408" y="359359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926016" y="354787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063176" y="3474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claro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continuar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3403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28600" y="7863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Elegir 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3580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7180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6324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0448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63240" y="475488"/>
            <a:ext cx="219456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5669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Elige tu seguro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978408"/>
            <a:ext cx="219456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63240" y="978408"/>
            <a:ext cx="144841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1133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se adapta mejor a ti?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48132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554480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55448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27832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93592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Vida Protegida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93592" y="18105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$8/mes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27832" y="21031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básica por fallecimiento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1883664"/>
            <a:ext cx="164592" cy="164592"/>
          </a:xfrm>
          <a:prstGeom prst="ellipse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54680" y="257860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651760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27832" y="2670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93592" y="2670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Amparo Plus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93592" y="29077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$28/mes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27832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Fallecimiento + invalidez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54680" y="367588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749040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74904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27832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💎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93592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Amparo Seguro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93592" y="40050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$55/mes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27832" y="4297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 + enf. graves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4078224"/>
            <a:ext cx="164592" cy="164592"/>
          </a:xfrm>
          <a:prstGeom prst="ellipse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154680" y="48280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54680" y="4828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detalles y contratar →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22392" y="117043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715000" y="112471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52160" y="1051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visible: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sabe dónde está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22392" y="18105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715000" y="17647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5216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opciones claras,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más para no confundir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22392" y="27249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5000" y="26791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52160" y="2606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visible desde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vistazo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22392" y="368503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715000" y="363931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52160" y="3566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recomendado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destacado en azul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9713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E4664E-E777-155D-C66C-F517E75DDDA8}"/>
              </a:ext>
            </a:extLst>
          </p:cNvPr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C0B24C-F487-33DB-C967-02A4625793D5}"/>
              </a:ext>
            </a:extLst>
          </p:cNvPr>
          <p:cNvSpPr/>
          <p:nvPr/>
        </p:nvSpPr>
        <p:spPr>
          <a:xfrm>
            <a:off x="246888" y="929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</a:t>
            </a:r>
            <a:r>
              <a:rPr lang="en-US" sz="2200" b="1" dirty="0" err="1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</a:t>
            </a:r>
            <a:endParaRPr lang="en-US" sz="2200" b="1" dirty="0">
              <a:solidFill>
                <a:srgbClr val="0F1C2E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plan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E9187D-8EE6-6010-D0B7-7D41357C1EEF}"/>
              </a:ext>
            </a:extLst>
          </p:cNvPr>
          <p:cNvSpPr/>
          <p:nvPr/>
        </p:nvSpPr>
        <p:spPr>
          <a:xfrm>
            <a:off x="303580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300EBE-FD8C-B5BD-6321-E33933DA2F90}"/>
              </a:ext>
            </a:extLst>
          </p:cNvPr>
          <p:cNvSpPr/>
          <p:nvPr/>
        </p:nvSpPr>
        <p:spPr>
          <a:xfrm>
            <a:off x="297180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7A3B52-B2F1-A95C-8A07-7DA2EF0D7AF5}"/>
              </a:ext>
            </a:extLst>
          </p:cNvPr>
          <p:cNvSpPr/>
          <p:nvPr/>
        </p:nvSpPr>
        <p:spPr>
          <a:xfrm>
            <a:off x="306324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7DB9ADE-0A10-6908-5E70-908E12C72599}"/>
              </a:ext>
            </a:extLst>
          </p:cNvPr>
          <p:cNvSpPr/>
          <p:nvPr/>
        </p:nvSpPr>
        <p:spPr>
          <a:xfrm>
            <a:off x="390448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FBD3708-4130-0512-D341-E4FFC41C4D40}"/>
              </a:ext>
            </a:extLst>
          </p:cNvPr>
          <p:cNvSpPr/>
          <p:nvPr/>
        </p:nvSpPr>
        <p:spPr>
          <a:xfrm>
            <a:off x="3063240" y="475488"/>
            <a:ext cx="219456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BBE215-F74E-9DA8-6C85-D6C6C265D8C4}"/>
              </a:ext>
            </a:extLst>
          </p:cNvPr>
          <p:cNvSpPr/>
          <p:nvPr/>
        </p:nvSpPr>
        <p:spPr>
          <a:xfrm>
            <a:off x="3154680" y="54864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Vida Protegida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61210F3-65E1-EE2C-05EF-674ADB6E4E2D}"/>
              </a:ext>
            </a:extLst>
          </p:cNvPr>
          <p:cNvSpPr/>
          <p:nvPr/>
        </p:nvSpPr>
        <p:spPr>
          <a:xfrm>
            <a:off x="3063240" y="932688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0060174-C376-8EF3-EBDD-C62201B9EC8F}"/>
              </a:ext>
            </a:extLst>
          </p:cNvPr>
          <p:cNvSpPr/>
          <p:nvPr/>
        </p:nvSpPr>
        <p:spPr>
          <a:xfrm>
            <a:off x="3063240" y="932688"/>
            <a:ext cx="21945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2246FD0-4DC7-A164-791C-BEDDECCEFE87}"/>
              </a:ext>
            </a:extLst>
          </p:cNvPr>
          <p:cNvSpPr/>
          <p:nvPr/>
        </p:nvSpPr>
        <p:spPr>
          <a:xfrm>
            <a:off x="3063240" y="987552"/>
            <a:ext cx="2194560" cy="512064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CF8D2DD-4446-A29C-F751-4043B4E92415}"/>
              </a:ext>
            </a:extLst>
          </p:cNvPr>
          <p:cNvSpPr/>
          <p:nvPr/>
        </p:nvSpPr>
        <p:spPr>
          <a:xfrm>
            <a:off x="3154680" y="102412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 /mes</a:t>
            </a: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3CD3007-A98A-D288-99CF-EFD0CCED8732}"/>
              </a:ext>
            </a:extLst>
          </p:cNvPr>
          <p:cNvSpPr/>
          <p:nvPr/>
        </p:nvSpPr>
        <p:spPr>
          <a:xfrm>
            <a:off x="4160520" y="1024128"/>
            <a:ext cx="105338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hasta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E82B5AE-C712-CE2B-8539-FDB7F5D31CA0}"/>
              </a:ext>
            </a:extLst>
          </p:cNvPr>
          <p:cNvSpPr/>
          <p:nvPr/>
        </p:nvSpPr>
        <p:spPr>
          <a:xfrm>
            <a:off x="3154680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incluye?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EB3F1E1-A30D-4959-A7D8-03B80D7E69DF}"/>
              </a:ext>
            </a:extLst>
          </p:cNvPr>
          <p:cNvSpPr/>
          <p:nvPr/>
        </p:nvSpPr>
        <p:spPr>
          <a:xfrm>
            <a:off x="3136392" y="1773936"/>
            <a:ext cx="2048256" cy="40233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F377D73-1535-8946-5258-E4717EFA266D}"/>
              </a:ext>
            </a:extLst>
          </p:cNvPr>
          <p:cNvSpPr/>
          <p:nvPr/>
        </p:nvSpPr>
        <p:spPr>
          <a:xfrm>
            <a:off x="3172968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💀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96BEB4-96FC-BE93-83C1-6250A8A0AD44}"/>
              </a:ext>
            </a:extLst>
          </p:cNvPr>
          <p:cNvSpPr/>
          <p:nvPr/>
        </p:nvSpPr>
        <p:spPr>
          <a:xfrm>
            <a:off x="3483864" y="18105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Fallecimiento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5F975A4-3F24-0B66-CDBC-A3C2811091C3}"/>
              </a:ext>
            </a:extLst>
          </p:cNvPr>
          <p:cNvSpPr/>
          <p:nvPr/>
        </p:nvSpPr>
        <p:spPr>
          <a:xfrm>
            <a:off x="3483864" y="197510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 a tu familia</a:t>
            </a:r>
            <a:endParaRPr lang="en-US" sz="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9EDA58B-0435-D291-CAB0-977AA218C384}"/>
              </a:ext>
            </a:extLst>
          </p:cNvPr>
          <p:cNvSpPr/>
          <p:nvPr/>
        </p:nvSpPr>
        <p:spPr>
          <a:xfrm>
            <a:off x="4983480" y="1892808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1337CFC-BFF2-CB6D-7699-A85F66DF50CC}"/>
              </a:ext>
            </a:extLst>
          </p:cNvPr>
          <p:cNvSpPr/>
          <p:nvPr/>
        </p:nvSpPr>
        <p:spPr>
          <a:xfrm>
            <a:off x="4983480" y="18928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E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F59438D-2DC2-4F14-C0F8-A434C308EB2F}"/>
              </a:ext>
            </a:extLst>
          </p:cNvPr>
          <p:cNvSpPr/>
          <p:nvPr/>
        </p:nvSpPr>
        <p:spPr>
          <a:xfrm>
            <a:off x="3136392" y="2212848"/>
            <a:ext cx="2048256" cy="40233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E2B2A3-5D38-D34D-8A03-C6814B9B46B1}"/>
              </a:ext>
            </a:extLst>
          </p:cNvPr>
          <p:cNvSpPr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🦽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D29C768-F41B-DFE3-ECB9-CB5738FC407F}"/>
              </a:ext>
            </a:extLst>
          </p:cNvPr>
          <p:cNvSpPr/>
          <p:nvPr/>
        </p:nvSpPr>
        <p:spPr>
          <a:xfrm>
            <a:off x="3483864" y="22494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Invalidez total</a:t>
            </a: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465D0DD-BE02-DA43-4ABC-3BA92FBE856B}"/>
              </a:ext>
            </a:extLst>
          </p:cNvPr>
          <p:cNvSpPr/>
          <p:nvPr/>
        </p:nvSpPr>
        <p:spPr>
          <a:xfrm>
            <a:off x="3483864" y="24140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puedes trabajar</a:t>
            </a:r>
            <a:endParaRPr lang="en-US" sz="8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11F2301-171E-43CC-7D3E-4B0366E80A8D}"/>
              </a:ext>
            </a:extLst>
          </p:cNvPr>
          <p:cNvSpPr/>
          <p:nvPr/>
        </p:nvSpPr>
        <p:spPr>
          <a:xfrm>
            <a:off x="4983480" y="2331720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F826E58-7152-4F0B-9FF0-99815431F32E}"/>
              </a:ext>
            </a:extLst>
          </p:cNvPr>
          <p:cNvSpPr/>
          <p:nvPr/>
        </p:nvSpPr>
        <p:spPr>
          <a:xfrm>
            <a:off x="4983480" y="23317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E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75116F4-4AE5-141C-F205-A2C1042DD3B4}"/>
              </a:ext>
            </a:extLst>
          </p:cNvPr>
          <p:cNvSpPr/>
          <p:nvPr/>
        </p:nvSpPr>
        <p:spPr>
          <a:xfrm>
            <a:off x="3136392" y="2651760"/>
            <a:ext cx="2048256" cy="40233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59938B4-93EF-DF2F-CF7E-A6E5058C3453}"/>
              </a:ext>
            </a:extLst>
          </p:cNvPr>
          <p:cNvSpPr/>
          <p:nvPr/>
        </p:nvSpPr>
        <p:spPr>
          <a:xfrm>
            <a:off x="3172968" y="2706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🏥</a:t>
            </a:r>
            <a:endParaRPr lang="en-US" sz="14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EC407A3-7DBC-1B7B-C23A-B7E7A5B128AA}"/>
              </a:ext>
            </a:extLst>
          </p:cNvPr>
          <p:cNvSpPr/>
          <p:nvPr/>
        </p:nvSpPr>
        <p:spPr>
          <a:xfrm>
            <a:off x="3483864" y="26883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Enf. graves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E2DDD20-9F3F-5C80-5378-AEBC75A0C60E}"/>
              </a:ext>
            </a:extLst>
          </p:cNvPr>
          <p:cNvSpPr/>
          <p:nvPr/>
        </p:nvSpPr>
        <p:spPr>
          <a:xfrm>
            <a:off x="3483864" y="285292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cubierto</a:t>
            </a:r>
            <a:endParaRPr lang="en-US" sz="8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3AF75FC-94CE-A8F0-B50B-E7A63A35A98E}"/>
              </a:ext>
            </a:extLst>
          </p:cNvPr>
          <p:cNvSpPr/>
          <p:nvPr/>
        </p:nvSpPr>
        <p:spPr>
          <a:xfrm>
            <a:off x="4983480" y="2770632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2F1D30F-C54F-736F-4038-5C6A0C34F43F}"/>
              </a:ext>
            </a:extLst>
          </p:cNvPr>
          <p:cNvSpPr/>
          <p:nvPr/>
        </p:nvSpPr>
        <p:spPr>
          <a:xfrm>
            <a:off x="4983480" y="27706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E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8B7C92D-F623-3AEC-4480-F49B520D491B}"/>
              </a:ext>
            </a:extLst>
          </p:cNvPr>
          <p:cNvSpPr/>
          <p:nvPr/>
        </p:nvSpPr>
        <p:spPr>
          <a:xfrm>
            <a:off x="3136392" y="3090672"/>
            <a:ext cx="2048256" cy="40233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0C9FFD5-96E0-2085-0F52-9244623BA3BD}"/>
              </a:ext>
            </a:extLst>
          </p:cNvPr>
          <p:cNvSpPr/>
          <p:nvPr/>
        </p:nvSpPr>
        <p:spPr>
          <a:xfrm>
            <a:off x="3172968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⚰️</a:t>
            </a:r>
            <a:endParaRPr lang="en-US" sz="1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4329E05-CE3F-91B1-EE0D-BFFC5AA4F21A}"/>
              </a:ext>
            </a:extLst>
          </p:cNvPr>
          <p:cNvSpPr/>
          <p:nvPr/>
        </p:nvSpPr>
        <p:spPr>
          <a:xfrm>
            <a:off x="3483864" y="31272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Asist. funeraria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1C3AD82-B1DA-4049-3C5C-810013A0B32B}"/>
              </a:ext>
            </a:extLst>
          </p:cNvPr>
          <p:cNvSpPr/>
          <p:nvPr/>
        </p:nvSpPr>
        <p:spPr>
          <a:xfrm>
            <a:off x="3483864" y="32918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incluidos</a:t>
            </a:r>
            <a:endParaRPr lang="en-US" sz="8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9A54299-869B-C80D-7EA4-4D86EC43F3E9}"/>
              </a:ext>
            </a:extLst>
          </p:cNvPr>
          <p:cNvSpPr/>
          <p:nvPr/>
        </p:nvSpPr>
        <p:spPr>
          <a:xfrm>
            <a:off x="4983480" y="3209544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231049F-FE06-EFF3-014C-DF18E817CBF2}"/>
              </a:ext>
            </a:extLst>
          </p:cNvPr>
          <p:cNvSpPr/>
          <p:nvPr/>
        </p:nvSpPr>
        <p:spPr>
          <a:xfrm>
            <a:off x="4983480" y="320954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E"/>
                </a:solidFill>
              </a:rPr>
              <a:t>✓</a:t>
            </a:r>
            <a:endParaRPr lang="en-US" sz="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464E191-4E3B-EDDD-DB95-DBAB1F745C29}"/>
              </a:ext>
            </a:extLst>
          </p:cNvPr>
          <p:cNvSpPr/>
          <p:nvPr/>
        </p:nvSpPr>
        <p:spPr>
          <a:xfrm>
            <a:off x="3136392" y="3529584"/>
            <a:ext cx="2048256" cy="40233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DFB7576-03C1-4AAA-ACB1-09F3D8A39378}"/>
              </a:ext>
            </a:extLst>
          </p:cNvPr>
          <p:cNvSpPr/>
          <p:nvPr/>
        </p:nvSpPr>
        <p:spPr>
          <a:xfrm>
            <a:off x="3172968" y="3584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👨‍👩‍👧</a:t>
            </a:r>
            <a:endParaRPr lang="en-US" sz="14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E1051DD-C17B-DCEE-4C02-17A57F7CA6D7}"/>
              </a:ext>
            </a:extLst>
          </p:cNvPr>
          <p:cNvSpPr/>
          <p:nvPr/>
        </p:nvSpPr>
        <p:spPr>
          <a:xfrm>
            <a:off x="3483864" y="35661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Beneficiarios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C6B9836-3D88-7554-6FA5-BA32B18B20A1}"/>
              </a:ext>
            </a:extLst>
          </p:cNvPr>
          <p:cNvSpPr/>
          <p:nvPr/>
        </p:nvSpPr>
        <p:spPr>
          <a:xfrm>
            <a:off x="3483864" y="37307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personas</a:t>
            </a:r>
            <a:endParaRPr lang="en-US" sz="8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BA2DDD24-E437-F410-40B2-84E0B7357D2B}"/>
              </a:ext>
            </a:extLst>
          </p:cNvPr>
          <p:cNvSpPr/>
          <p:nvPr/>
        </p:nvSpPr>
        <p:spPr>
          <a:xfrm>
            <a:off x="4983480" y="3648456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169641B-B676-F819-37B5-6F1D4110CD4B}"/>
              </a:ext>
            </a:extLst>
          </p:cNvPr>
          <p:cNvSpPr/>
          <p:nvPr/>
        </p:nvSpPr>
        <p:spPr>
          <a:xfrm>
            <a:off x="4983480" y="36484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E"/>
                </a:solidFill>
              </a:rPr>
              <a:t>✓</a:t>
            </a:r>
            <a:endParaRPr lang="en-US" sz="8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456F6C8-387A-A88C-3C18-35AAB34D8E73}"/>
              </a:ext>
            </a:extLst>
          </p:cNvPr>
          <p:cNvSpPr/>
          <p:nvPr/>
        </p:nvSpPr>
        <p:spPr>
          <a:xfrm>
            <a:off x="3136392" y="4187952"/>
            <a:ext cx="2048256" cy="347472"/>
          </a:xfrm>
          <a:prstGeom prst="roundRect">
            <a:avLst>
              <a:gd name="adj" fmla="val 1315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AA10612-1B83-CFAA-092C-C4C191590BAE}"/>
              </a:ext>
            </a:extLst>
          </p:cNvPr>
          <p:cNvSpPr/>
          <p:nvPr/>
        </p:nvSpPr>
        <p:spPr>
          <a:xfrm>
            <a:off x="3136392" y="4187952"/>
            <a:ext cx="2048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ahora →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1CAEED1-E809-58A1-D19A-02FD562B58FE}"/>
              </a:ext>
            </a:extLst>
          </p:cNvPr>
          <p:cNvSpPr/>
          <p:nvPr/>
        </p:nvSpPr>
        <p:spPr>
          <a:xfrm>
            <a:off x="5422392" y="103327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38ECB19-8FAA-967C-1438-BB12A703FC47}"/>
              </a:ext>
            </a:extLst>
          </p:cNvPr>
          <p:cNvSpPr/>
          <p:nvPr/>
        </p:nvSpPr>
        <p:spPr>
          <a:xfrm>
            <a:off x="5715000" y="98755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5B698F5-1566-47DC-6FD4-61C9BD8789E9}"/>
              </a:ext>
            </a:extLst>
          </p:cNvPr>
          <p:cNvSpPr/>
          <p:nvPr/>
        </p:nvSpPr>
        <p:spPr>
          <a:xfrm>
            <a:off x="585216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y cobertura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de un vistazo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CE50A40-6F62-D003-DF4C-FA3B05267974}"/>
              </a:ext>
            </a:extLst>
          </p:cNvPr>
          <p:cNvSpPr/>
          <p:nvPr/>
        </p:nvSpPr>
        <p:spPr>
          <a:xfrm>
            <a:off x="5422392" y="18105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BFED1695-F79C-A860-9B18-A27CAEAFA8F0}"/>
              </a:ext>
            </a:extLst>
          </p:cNvPr>
          <p:cNvSpPr/>
          <p:nvPr/>
        </p:nvSpPr>
        <p:spPr>
          <a:xfrm>
            <a:off x="5715000" y="17647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FAB97800-A662-A8E9-5028-09833A7CC0D8}"/>
              </a:ext>
            </a:extLst>
          </p:cNvPr>
          <p:cNvSpPr/>
          <p:nvPr/>
        </p:nvSpPr>
        <p:spPr>
          <a:xfrm>
            <a:off x="585216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coberturas 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simple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061372BF-1EB5-3DF3-3088-321C0E89D5CF}"/>
              </a:ext>
            </a:extLst>
          </p:cNvPr>
          <p:cNvSpPr/>
          <p:nvPr/>
        </p:nvSpPr>
        <p:spPr>
          <a:xfrm>
            <a:off x="5422392" y="313639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CAF2C1A-840E-89EC-01A5-51E5B1CF1109}"/>
              </a:ext>
            </a:extLst>
          </p:cNvPr>
          <p:cNvSpPr/>
          <p:nvPr/>
        </p:nvSpPr>
        <p:spPr>
          <a:xfrm>
            <a:off x="5715000" y="309067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0094C594-1EC0-8347-D6AC-31FDB4ABBDCC}"/>
              </a:ext>
            </a:extLst>
          </p:cNvPr>
          <p:cNvSpPr/>
          <p:nvPr/>
        </p:nvSpPr>
        <p:spPr>
          <a:xfrm>
            <a:off x="585216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amarillo muestra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 incluido</a:t>
            </a:r>
            <a:endParaRPr lang="en-US" sz="10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D33430D-6AA9-38DC-597F-BBAC4245F894}"/>
              </a:ext>
            </a:extLst>
          </p:cNvPr>
          <p:cNvSpPr/>
          <p:nvPr/>
        </p:nvSpPr>
        <p:spPr>
          <a:xfrm>
            <a:off x="5422392" y="414223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73F0E11-B91A-4A57-39E9-59BEC99780C6}"/>
              </a:ext>
            </a:extLst>
          </p:cNvPr>
          <p:cNvSpPr/>
          <p:nvPr/>
        </p:nvSpPr>
        <p:spPr>
          <a:xfrm>
            <a:off x="5715000" y="409651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342A888-A019-C8B4-E992-83832F843ECD}"/>
              </a:ext>
            </a:extLst>
          </p:cNvPr>
          <p:cNvSpPr/>
          <p:nvPr/>
        </p:nvSpPr>
        <p:spPr>
          <a:xfrm>
            <a:off x="5852160" y="4023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para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de inmediato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0389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10652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</a:t>
            </a:r>
            <a:r>
              <a:rPr lang="en-US" sz="2200" b="1" dirty="0" err="1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</a:t>
            </a: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0156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756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2900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7024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29000" y="475488"/>
            <a:ext cx="219456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54864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Vida Protegida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932688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29000" y="932688"/>
            <a:ext cx="21945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042416"/>
            <a:ext cx="109728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04241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Sí cubre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1042416"/>
            <a:ext cx="109728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04241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cubre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02152" y="1408176"/>
            <a:ext cx="2048256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38728" y="1481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31336" y="1499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Fallecimiento por cualquier causa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67528" y="15361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67528" y="15361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02152" y="1865376"/>
            <a:ext cx="2048256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38728" y="1938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31336" y="19568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Invalidez total y permanente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67528" y="19933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67528" y="19933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02152" y="2322576"/>
            <a:ext cx="2048256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38728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31336" y="24140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 graves diagnosticadas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67528" y="24505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67528" y="24505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02152" y="2779776"/>
            <a:ext cx="2048256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38728" y="2852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⚰️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31336" y="28712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funeraria incluida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67528" y="29077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67528" y="29077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29000" y="3282696"/>
            <a:ext cx="219456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20440" y="3282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cubre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02152" y="3511296"/>
            <a:ext cx="2048256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38728" y="35570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🏍️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813048" y="3575304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en moto sin licencia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67528" y="3602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67528" y="36027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502152" y="3895344"/>
            <a:ext cx="2048256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38728" y="3941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13048" y="3959352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 preexistentes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67528" y="39867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67528" y="398678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502152" y="4279392"/>
            <a:ext cx="2048256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38728" y="43251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🌍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813048" y="4343400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Fallecimiento fuera del país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67528" y="437083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67528" y="43708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788152" y="103327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080760" y="98755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claros: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cubre / NO cubre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788152" y="18105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80760" y="17647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1792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para coberturas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788152" y="34107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080760" y="33649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217920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para exclusiones: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letra pequeña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88152" y="418795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080760" y="414223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17920" y="4069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sabe exactamente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comprando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9073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16408" y="9052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</a:t>
            </a:r>
            <a:r>
              <a:rPr lang="en-US" sz="2200" b="1" dirty="0" err="1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Opciones</a:t>
            </a: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pago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0532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4132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3276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7400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32760" y="475488"/>
            <a:ext cx="219456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24200" y="54864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Opciones de pago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32760" y="932688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32760" y="932688"/>
            <a:ext cx="1865376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32760" y="987552"/>
            <a:ext cx="2194560" cy="475488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24200" y="104241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Protegida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24200" y="12070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/ mes  ·  Cobertura hasta $30,000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24200" y="15361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quieres pagar?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5912" y="1810512"/>
            <a:ext cx="20482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79064" y="2084832"/>
            <a:ext cx="201168" cy="20116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35096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64280" y="193852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crédito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64280" y="21579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Visa, Mastercard, American Express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05912" y="2633472"/>
            <a:ext cx="2048256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79064" y="2907792"/>
            <a:ext cx="201168" cy="201168"/>
          </a:xfrm>
          <a:prstGeom prst="ellipse">
            <a:avLst/>
          </a:prstGeom>
          <a:solidFill>
            <a:srgbClr val="1A56DB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79064" y="29077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35096" y="2761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64280" y="27614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débito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64280" y="29809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banco del Ecuador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0392" y="3145536"/>
            <a:ext cx="457200" cy="164592"/>
          </a:xfrm>
          <a:prstGeom prst="roundRect">
            <a:avLst>
              <a:gd name="adj" fmla="val 16667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0392" y="314553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105912" y="3456432"/>
            <a:ext cx="204825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79064" y="3730752"/>
            <a:ext cx="201168" cy="20116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35096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64280" y="358444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Pichincha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64280" y="38039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automático mes a mes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05912" y="4215384"/>
            <a:ext cx="2048256" cy="365760"/>
          </a:xfrm>
          <a:prstGeom prst="roundRect">
            <a:avLst>
              <a:gd name="adj" fmla="val 125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05912" y="4215384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y pagar 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32760" y="39898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Pago 100% seguro y encriptado</a:t>
            </a:r>
            <a:endParaRPr lang="en-US" sz="750" dirty="0"/>
          </a:p>
        </p:txBody>
      </p:sp>
      <p:sp>
        <p:nvSpPr>
          <p:cNvPr id="49" name="Shape 2"/>
          <p:cNvSpPr/>
          <p:nvPr/>
        </p:nvSpPr>
        <p:spPr>
          <a:xfrm>
            <a:off x="566470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"/>
          <p:cNvSpPr/>
          <p:nvPr/>
        </p:nvSpPr>
        <p:spPr>
          <a:xfrm>
            <a:off x="560070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"/>
          <p:cNvSpPr/>
          <p:nvPr/>
        </p:nvSpPr>
        <p:spPr>
          <a:xfrm>
            <a:off x="569214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"/>
          <p:cNvSpPr/>
          <p:nvPr/>
        </p:nvSpPr>
        <p:spPr>
          <a:xfrm>
            <a:off x="653338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6"/>
          <p:cNvSpPr/>
          <p:nvPr/>
        </p:nvSpPr>
        <p:spPr>
          <a:xfrm>
            <a:off x="5692140" y="475488"/>
            <a:ext cx="2194560" cy="200143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7"/>
          <p:cNvSpPr/>
          <p:nvPr/>
        </p:nvSpPr>
        <p:spPr>
          <a:xfrm>
            <a:off x="6313932" y="731520"/>
            <a:ext cx="950976" cy="9509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8"/>
          <p:cNvSpPr/>
          <p:nvPr/>
        </p:nvSpPr>
        <p:spPr>
          <a:xfrm>
            <a:off x="6313932" y="73152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800" dirty="0"/>
          </a:p>
        </p:txBody>
      </p:sp>
      <p:sp>
        <p:nvSpPr>
          <p:cNvPr id="56" name="Text 9"/>
          <p:cNvSpPr/>
          <p:nvPr/>
        </p:nvSpPr>
        <p:spPr>
          <a:xfrm>
            <a:off x="5692140" y="17739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¡Listo!</a:t>
            </a:r>
            <a:endParaRPr lang="en-US" sz="2000" dirty="0"/>
          </a:p>
        </p:txBody>
      </p:sp>
      <p:sp>
        <p:nvSpPr>
          <p:cNvPr id="57" name="Text 10"/>
          <p:cNvSpPr/>
          <p:nvPr/>
        </p:nvSpPr>
        <p:spPr>
          <a:xfrm>
            <a:off x="5692140" y="21031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seguro está activo</a:t>
            </a:r>
            <a:endParaRPr lang="en-US" sz="1000" dirty="0"/>
          </a:p>
        </p:txBody>
      </p:sp>
      <p:sp>
        <p:nvSpPr>
          <p:cNvPr id="58" name="Shape 11"/>
          <p:cNvSpPr/>
          <p:nvPr/>
        </p:nvSpPr>
        <p:spPr>
          <a:xfrm>
            <a:off x="5783580" y="2614087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2"/>
          <p:cNvSpPr/>
          <p:nvPr/>
        </p:nvSpPr>
        <p:spPr>
          <a:xfrm>
            <a:off x="5893308" y="2705527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Vida Protegida</a:t>
            </a:r>
            <a:endParaRPr lang="en-US" sz="1100" dirty="0"/>
          </a:p>
        </p:txBody>
      </p:sp>
      <p:sp>
        <p:nvSpPr>
          <p:cNvPr id="60" name="Text 13"/>
          <p:cNvSpPr/>
          <p:nvPr/>
        </p:nvSpPr>
        <p:spPr>
          <a:xfrm>
            <a:off x="5893308" y="2915839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póliza:  VP-2025-004821</a:t>
            </a:r>
            <a:endParaRPr lang="en-US" sz="850" dirty="0"/>
          </a:p>
        </p:txBody>
      </p:sp>
      <p:sp>
        <p:nvSpPr>
          <p:cNvPr id="61" name="Text 14"/>
          <p:cNvSpPr/>
          <p:nvPr/>
        </p:nvSpPr>
        <p:spPr>
          <a:xfrm>
            <a:off x="5893308" y="3098719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mensual: $8  ·  Cobertura: $30,000</a:t>
            </a:r>
            <a:endParaRPr lang="en-US" sz="800" dirty="0"/>
          </a:p>
        </p:txBody>
      </p:sp>
      <p:sp>
        <p:nvSpPr>
          <p:cNvPr id="62" name="Text 15"/>
          <p:cNvSpPr/>
          <p:nvPr/>
        </p:nvSpPr>
        <p:spPr>
          <a:xfrm>
            <a:off x="5893308" y="3281599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pago: 15 Feb 2026</a:t>
            </a:r>
            <a:endParaRPr lang="en-US" sz="800" dirty="0"/>
          </a:p>
        </p:txBody>
      </p:sp>
      <p:sp>
        <p:nvSpPr>
          <p:cNvPr id="63" name="Shape 16"/>
          <p:cNvSpPr/>
          <p:nvPr/>
        </p:nvSpPr>
        <p:spPr>
          <a:xfrm>
            <a:off x="5783580" y="3802807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17"/>
          <p:cNvSpPr/>
          <p:nvPr/>
        </p:nvSpPr>
        <p:spPr>
          <a:xfrm>
            <a:off x="5783580" y="3802807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Mi seguro →</a:t>
            </a:r>
            <a:endParaRPr lang="en-US" sz="1000" dirty="0"/>
          </a:p>
        </p:txBody>
      </p:sp>
      <p:sp>
        <p:nvSpPr>
          <p:cNvPr id="65" name="Shape 18"/>
          <p:cNvSpPr/>
          <p:nvPr/>
        </p:nvSpPr>
        <p:spPr>
          <a:xfrm>
            <a:off x="5783580" y="4260007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19"/>
          <p:cNvSpPr/>
          <p:nvPr/>
        </p:nvSpPr>
        <p:spPr>
          <a:xfrm>
            <a:off x="5783580" y="4260007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póliza PDF</a:t>
            </a:r>
            <a:endParaRPr lang="en-US" sz="950" dirty="0"/>
          </a:p>
        </p:txBody>
      </p:sp>
      <p:sp>
        <p:nvSpPr>
          <p:cNvPr id="67" name="Text 20"/>
          <p:cNvSpPr/>
          <p:nvPr/>
        </p:nvSpPr>
        <p:spPr>
          <a:xfrm>
            <a:off x="5591556" y="351582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Enviamos el resumen a tu correo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84605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33082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69074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60514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01762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60514" y="475488"/>
            <a:ext cx="2194560" cy="566928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51954" y="5303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Hola, Andrés 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54" y="7498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a Easy Seguro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71026" y="566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33666" y="1133856"/>
            <a:ext cx="2048256" cy="822960"/>
          </a:xfrm>
          <a:prstGeom prst="roundRect">
            <a:avLst>
              <a:gd name="adj" fmla="val 777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74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90866" y="11887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Vida Protegida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0866" y="13716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Activo  ·  $8/mes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74" y="1609344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74" y="16093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pago: 15 Feb · $8.00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51954" y="20665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rápidas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33666" y="22860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33666" y="234086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33666" y="261518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64018" y="22860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64018" y="234086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2588" y="2618994"/>
            <a:ext cx="5509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94370" y="22860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4370" y="234086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94370" y="261518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póliza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824722" y="22860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24722" y="234086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24722" y="261518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51954" y="29626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33666" y="3182112"/>
            <a:ext cx="2048256" cy="36576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88530" y="32552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62850" y="325526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¡Nuevo! Amparo Plus con 10% off este mes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33666" y="3621024"/>
            <a:ext cx="2048256" cy="36576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88530" y="36941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62850" y="369417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tu pago vence el 15 de Feb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60514" y="4242816"/>
            <a:ext cx="21945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14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🏠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60514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09154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09154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257794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57794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06434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806434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DF08D4-7166-71EB-3914-FDC4A604C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527" y="478576"/>
            <a:ext cx="468661" cy="508976"/>
          </a:xfrm>
          <a:prstGeom prst="rect">
            <a:avLst/>
          </a:prstGeom>
        </p:spPr>
      </p:pic>
      <p:sp>
        <p:nvSpPr>
          <p:cNvPr id="50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53" name="Text 1"/>
          <p:cNvSpPr/>
          <p:nvPr/>
        </p:nvSpPr>
        <p:spPr>
          <a:xfrm>
            <a:off x="274320" y="110677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(Dashboard)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156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3430" y="1165289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Mi perfil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36639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0239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9383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3507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93830" y="475488"/>
            <a:ext cx="2194560" cy="82296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98502" y="566928"/>
            <a:ext cx="585216" cy="585216"/>
          </a:xfrm>
          <a:prstGeom prst="ellipse">
            <a:avLst/>
          </a:prstGeom>
          <a:solidFill>
            <a:srgbClr val="1A56DB"/>
          </a:solidFill>
          <a:ln w="1524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98502" y="5669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93830" y="11612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</a:t>
            </a:r>
            <a:r>
              <a:rPr lang="es-EC" sz="10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és</a:t>
            </a:r>
            <a:r>
              <a:rPr lang="es-EC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Báez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25350" y="1325880"/>
            <a:ext cx="731520" cy="163449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25350" y="13258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5.0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85270" y="1499616"/>
            <a:ext cx="20116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93830" y="155448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85270" y="1645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77878" y="160934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7878" y="179222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Báez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59790" y="164592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93830" y="2029968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85270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77878" y="20848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pago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7878" y="226771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Pichincha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9790" y="212140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85270" y="25420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seguros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66982" y="2761488"/>
            <a:ext cx="658368" cy="58521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66982" y="27767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🛡️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03558" y="3017901"/>
            <a:ext cx="5852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Protegida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13286" y="3200400"/>
            <a:ext cx="365760" cy="118872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13286" y="3200400"/>
            <a:ext cx="39319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161926" y="2761488"/>
            <a:ext cx="658368" cy="58521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61926" y="279577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98502" y="3023616"/>
            <a:ext cx="5852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Amparo Plus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08230" y="3200400"/>
            <a:ext cx="365760" cy="118872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77749" y="3200400"/>
            <a:ext cx="424815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856870" y="2761488"/>
            <a:ext cx="658368" cy="585216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56870" y="278815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💎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893446" y="3017901"/>
            <a:ext cx="5852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Amparo Seguro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03174" y="3200400"/>
            <a:ext cx="365760" cy="118872"/>
          </a:xfrm>
          <a:prstGeom prst="roundRect">
            <a:avLst>
              <a:gd name="adj" fmla="val 15385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46024" y="3200400"/>
            <a:ext cx="47548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393830" y="3419856"/>
            <a:ext cx="21945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85270" y="3502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777878" y="346557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77878" y="363931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Pregúntame lo que quieras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59790" y="350215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393830" y="3877056"/>
            <a:ext cx="21945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85270" y="3959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777878" y="392277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777878" y="409651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y movimientos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59790" y="395935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393830" y="4242816"/>
            <a:ext cx="21945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393830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🏠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393830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942470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942470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491110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491110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039750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39750" y="444398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752982" y="8961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045590" y="8503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182750" y="777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con calificación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52982" y="171907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045590" y="167335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82750" y="1600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método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siempre editables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752982" y="263347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45590" y="258775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182750" y="25146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sus seguros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vistazo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752982" y="36393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045590" y="35935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182750" y="3520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 para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sin llamar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7579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8112" y="12070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Mi </a:t>
            </a:r>
            <a:r>
              <a:rPr lang="en-US" sz="2200" b="1" dirty="0" err="1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</a:t>
            </a: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5080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8680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824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1948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8240" y="475488"/>
            <a:ext cx="219456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9680" y="54864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Vida Protegida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8240" y="932688"/>
            <a:ext cx="109728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8240" y="932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seguro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5520" y="932688"/>
            <a:ext cx="10972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5520" y="932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9680" y="1280160"/>
            <a:ext cx="457200" cy="164592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9680" y="12801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72600" y="1280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$8/mes · Vence: Dic 2025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8240" y="1481328"/>
            <a:ext cx="2194560" cy="201168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9680" y="1481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incluidos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87968" y="1737360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34272" y="17007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Fallecimiento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87968" y="1975104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34272" y="19385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Invalidez total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87968" y="2212848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34272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Asist. funeraria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8240" y="2468880"/>
            <a:ext cx="2194560" cy="201168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69680" y="24688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médicos afiliados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51392" y="2706624"/>
            <a:ext cx="2048256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87968" y="27523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62288" y="2734056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Metropolitano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62288" y="288950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02-226-1520  ·  🌐 hmetro.med.ec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551392" y="3090672"/>
            <a:ext cx="2048256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87968" y="3136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62288" y="311810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Pichincha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62288" y="3273552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02-299-7400  ·  📍 Veintimilla y Páez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78240" y="3511296"/>
            <a:ext cx="2194560" cy="201168"/>
          </a:xfrm>
          <a:prstGeom prst="rect">
            <a:avLst/>
          </a:prstGeom>
          <a:solidFill>
            <a:srgbClr val="FEF9E7"/>
          </a:solidFill>
          <a:ln w="508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69680" y="35112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complementarios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51392" y="3749040"/>
            <a:ext cx="2048256" cy="347472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87968" y="38039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62288" y="37856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Amparo Plus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62288" y="3941064"/>
            <a:ext cx="8778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$28/mes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69880" y="3840480"/>
            <a:ext cx="402336" cy="164592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99395" y="3840480"/>
            <a:ext cx="539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551392" y="4151376"/>
            <a:ext cx="2048256" cy="347472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87968" y="42062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62288" y="41879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Amparo Seguro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862288" y="4343400"/>
            <a:ext cx="8778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$55/mes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169880" y="4242816"/>
            <a:ext cx="402336" cy="164592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95966" y="424281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837392" y="960120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30000" y="914400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67160" y="841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Mi seguro 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37392" y="18105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30000" y="17647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6716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activos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vistazo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37392" y="254203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130000" y="249631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67160" y="2423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médicos con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y dirección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37392" y="3794760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130000" y="3749040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67160" y="3675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contratar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complementario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7151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 experiencia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Pantalla: Ayuda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72968" y="338328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0" y="274320"/>
            <a:ext cx="2377440" cy="4572000"/>
          </a:xfrm>
          <a:prstGeom prst="roundRect">
            <a:avLst>
              <a:gd name="adj" fmla="val 846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0" y="475488"/>
            <a:ext cx="2194560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41648" y="347472"/>
            <a:ext cx="512064" cy="100584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475488"/>
            <a:ext cx="2194560" cy="4572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54864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ayuda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32688"/>
            <a:ext cx="2194560" cy="502920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978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75888" y="97840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75888" y="1152144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Pregúntame lo que necesites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151790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te podemos ayudar?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73552" y="1773936"/>
            <a:ext cx="2048256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8416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182880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reportar un siniestro?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202082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Accidente, fallecimiento u otro evento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1920240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56DB"/>
                </a:solidFill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73552" y="2340864"/>
            <a:ext cx="2048256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28416" y="2432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⚰️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0" y="239572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¿Asistencia exequial?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58775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activar el servicio funerario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6360" y="2487168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56DB"/>
                </a:solidFill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73552" y="2907792"/>
            <a:ext cx="2048256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28416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0" y="29626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agendo una cita?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315468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médicos afiliados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3054096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56DB"/>
                </a:solidFill>
              </a:rPr>
              <a:t>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73552" y="3474720"/>
            <a:ext cx="2048256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57600" y="352958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72160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sobre tu póliza y coberturas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3621024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56DB"/>
                </a:solidFill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73552" y="4096512"/>
            <a:ext cx="2048256" cy="347472"/>
          </a:xfrm>
          <a:prstGeom prst="roundRect">
            <a:avLst>
              <a:gd name="adj" fmla="val 1315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73552" y="4096512"/>
            <a:ext cx="2048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Llamar a un asesor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59552" y="98755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52160" y="94183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89320" y="868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 siempre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arriba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59552" y="185623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52160" y="181051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89320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consultas más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frecuentes del usuario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59552" y="295351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852160" y="290779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89320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opción lleva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guía paso a paso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59552" y="4142232"/>
            <a:ext cx="292608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852160" y="4096512"/>
            <a:ext cx="91440" cy="914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89320" y="4023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llamar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último recurso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4749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839</Words>
  <Application>Microsoft Office PowerPoint</Application>
  <PresentationFormat>Presentación en pantalla (16:9)</PresentationFormat>
  <Paragraphs>319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ANDRES ALEJANDRO BAEZ BENAVIDES</cp:lastModifiedBy>
  <cp:revision>3</cp:revision>
  <dcterms:created xsi:type="dcterms:W3CDTF">2026-05-24T11:36:47Z</dcterms:created>
  <dcterms:modified xsi:type="dcterms:W3CDTF">2026-05-24T12:43:12Z</dcterms:modified>
</cp:coreProperties>
</file>